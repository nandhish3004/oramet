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54864"/>
            <a:ext cx="620349" cy="786384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10697037" y="78455"/>
            <a:ext cx="1464482" cy="786384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19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SMART INDIA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19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HACKATHON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19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601200" cy="566928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32688"/>
            <a:ext cx="4873752" cy="40233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TITLE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417320"/>
            <a:ext cx="6702552" cy="420624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Hydro</a:t>
            </a:r>
            <a:r>
              <a:rPr sz="2700" b="1" i="0">
                <a:solidFill>
                  <a:srgbClr val="B9860B"/>
                </a:solidFill>
                <a:latin typeface="Times New Roman"/>
                <a:ea typeface="Times New Roman"/>
                <a:cs typeface="Times New Roman"/>
              </a:rPr>
              <a:t>Sentinel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6048" y="1883664"/>
            <a:ext cx="2286000" cy="25603"/>
          </a:xfrm>
          <a:prstGeom prst="rect">
            <a:avLst/>
          </a:prstGeom>
          <a:solidFill>
            <a:srgbClr val="E8A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956816"/>
            <a:ext cx="9262872" cy="292608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Hyper-Local Flash Flood &amp; Landslide Early Warning for the Indian Himalayas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340864"/>
            <a:ext cx="6492240" cy="3712463"/>
          </a:xfrm>
          <a:prstGeom prst="rect">
            <a:avLst/>
          </a:prstGeom>
          <a:solidFill>
            <a:srgbClr val="FFFFFF"/>
          </a:solidFill>
          <a:ln w="1905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340864"/>
            <a:ext cx="77724" cy="3712463"/>
          </a:xfrm>
          <a:prstGeom prst="rect">
            <a:avLst/>
          </a:prstGeom>
          <a:solidFill>
            <a:srgbClr val="E8A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87168"/>
            <a:ext cx="6053328" cy="2542032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Font typeface="Times New Roman"/>
              <a:buChar char="•"/>
            </a:pPr>
            <a:r>
              <a:rPr sz="1350" b="1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Problem Statement ID – </a:t>
            </a:r>
            <a:r>
              <a:rPr sz="135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26192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Font typeface="Times New Roman"/>
              <a:buChar char="•"/>
            </a:pPr>
            <a:r>
              <a:rPr sz="1350" b="1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Problem Statement Title – </a:t>
            </a:r>
            <a:r>
              <a:rPr sz="135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Flash Flood Prediction System for Hilly Regions using Multi-Source Data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Font typeface="Times New Roman"/>
              <a:buChar char="•"/>
            </a:pPr>
            <a:r>
              <a:rPr sz="1350" b="1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Theme – </a:t>
            </a:r>
            <a:r>
              <a:rPr sz="135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Disaster Management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Font typeface="Times New Roman"/>
              <a:buChar char="•"/>
            </a:pPr>
            <a:r>
              <a:rPr sz="1350" b="1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PS Category – </a:t>
            </a:r>
            <a:r>
              <a:rPr sz="135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Software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Font typeface="Times New Roman"/>
              <a:buChar char="•"/>
            </a:pPr>
            <a:r>
              <a:rPr sz="1350" b="1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Team ID – </a:t>
            </a:r>
            <a:r>
              <a:rPr sz="135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126427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Font typeface="Times New Roman"/>
              <a:buChar char="•"/>
            </a:pPr>
            <a:r>
              <a:rPr sz="1350" b="1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Team Name (Registered on portal) – </a:t>
            </a:r>
            <a:r>
              <a:rPr sz="135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zypher2026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084064"/>
            <a:ext cx="5897880" cy="14630"/>
          </a:xfrm>
          <a:prstGeom prst="rect">
            <a:avLst/>
          </a:prstGeom>
          <a:solidFill>
            <a:srgbClr val="B7B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5230368"/>
            <a:ext cx="2834640" cy="658368"/>
          </a:xfrm>
          <a:prstGeom prst="rect">
            <a:avLst/>
          </a:prstGeom>
          <a:solidFill>
            <a:srgbClr val="F8F4EA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GitHub Repository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github.com/nandhish3004/Oramet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03904" y="5230368"/>
            <a:ext cx="2916936" cy="658368"/>
          </a:xfrm>
          <a:prstGeom prst="rect">
            <a:avLst/>
          </a:prstGeom>
          <a:solidFill>
            <a:srgbClr val="F8F4EA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Demo Video (YouTube)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youtube.com – link embedded in final PDF</a:t>
            </a:r>
          </a:p>
        </p:txBody>
      </p:sp>
      <p:sp>
        <p:nvSpPr>
          <p:cNvPr id="15" name="Hexagon 14"/>
          <p:cNvSpPr/>
          <p:nvPr/>
        </p:nvSpPr>
        <p:spPr>
          <a:xfrm>
            <a:off x="7818120" y="2331720"/>
            <a:ext cx="3703320" cy="3429000"/>
          </a:xfrm>
          <a:prstGeom prst="hexagon">
            <a:avLst/>
          </a:prstGeom>
          <a:solidFill>
            <a:srgbClr val="EDEDED"/>
          </a:solidFill>
          <a:ln w="12700">
            <a:solidFill>
              <a:srgbClr val="C9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10744200" y="1600200"/>
            <a:ext cx="1325880" cy="1234440"/>
          </a:xfrm>
          <a:prstGeom prst="hexagon">
            <a:avLst/>
          </a:prstGeom>
          <a:solidFill>
            <a:srgbClr val="EDEDED"/>
          </a:solidFill>
          <a:ln w="12700">
            <a:solidFill>
              <a:srgbClr val="C9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7086600" y="4617720"/>
            <a:ext cx="1371600" cy="1280160"/>
          </a:xfrm>
          <a:prstGeom prst="hexagon">
            <a:avLst/>
          </a:prstGeom>
          <a:solidFill>
            <a:srgbClr val="EDEDED"/>
          </a:solidFill>
          <a:ln w="12700">
            <a:solidFill>
              <a:srgbClr val="C9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ih_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219" y="2713213"/>
            <a:ext cx="2103120" cy="2666013"/>
          </a:xfrm>
          <a:prstGeom prst="rect">
            <a:avLst/>
          </a:prstGeom>
          <a:effectLst/>
        </p:spPr>
      </p:pic>
      <p:sp>
        <p:nvSpPr>
          <p:cNvPr id="19" name="Rectangle 18"/>
          <p:cNvSpPr/>
          <p:nvPr/>
        </p:nvSpPr>
        <p:spPr>
          <a:xfrm>
            <a:off x="0" y="6144768"/>
            <a:ext cx="12192609" cy="713232"/>
          </a:xfrm>
          <a:prstGeom prst="rect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144768"/>
            <a:ext cx="12192609" cy="27432"/>
          </a:xfrm>
          <a:prstGeom prst="rect">
            <a:avLst/>
          </a:prstGeom>
          <a:solidFill>
            <a:srgbClr val="E8A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zypher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17920"/>
            <a:ext cx="466344" cy="580644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1060704" y="6144768"/>
            <a:ext cx="5120640" cy="713232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Team zypher2026</a:t>
            </a:r>
            <a:r>
              <a:rPr sz="1250" b="0" i="0">
                <a:solidFill>
                  <a:srgbClr val="DCE3F0"/>
                </a:solidFill>
                <a:latin typeface="Times New Roman"/>
                <a:ea typeface="Times New Roman"/>
                <a:cs typeface="Times New Roman"/>
              </a:rPr>
              <a:t>   •   Team ID 126427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6144768"/>
            <a:ext cx="5760720" cy="713232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CE3F0"/>
                </a:solidFill>
                <a:latin typeface="Times New Roman"/>
                <a:ea typeface="Times New Roman"/>
                <a:cs typeface="Times New Roman"/>
              </a:rPr>
              <a:t>Ministry of Home Affairs  |  NDRF – DM Division  •  PS 26192  •  SIH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zypher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55448"/>
            <a:ext cx="513989" cy="640080"/>
          </a:xfrm>
          <a:prstGeom prst="rect">
            <a:avLst/>
          </a:prstGeom>
          <a:effectLst/>
        </p:spPr>
      </p:pic>
      <p:sp>
        <p:nvSpPr>
          <p:cNvPr id="3" name="Oval 2"/>
          <p:cNvSpPr/>
          <p:nvPr/>
        </p:nvSpPr>
        <p:spPr>
          <a:xfrm>
            <a:off x="877824" y="155448"/>
            <a:ext cx="1481328" cy="749808"/>
          </a:xfrm>
          <a:prstGeom prst="ellipse">
            <a:avLst/>
          </a:prstGeom>
          <a:noFill/>
          <a:ln w="2032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ZYPHER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182880"/>
            <a:ext cx="6675120" cy="67665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</a:p>
        </p:txBody>
      </p:sp>
      <p:pic>
        <p:nvPicPr>
          <p:cNvPr id="5" name="Picture 4" descr="sih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91440"/>
            <a:ext cx="634776" cy="804672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10409712" y="115580"/>
            <a:ext cx="1751807" cy="804672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SMART INDIA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HACKATHON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6048" y="896112"/>
            <a:ext cx="2286000" cy="25603"/>
          </a:xfrm>
          <a:prstGeom prst="rect">
            <a:avLst/>
          </a:prstGeom>
          <a:solidFill>
            <a:srgbClr val="E8A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2609" cy="3200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6537960"/>
            <a:ext cx="5790895" cy="32004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37960"/>
            <a:ext cx="457200" cy="32004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5870448" cy="310896"/>
          </a:xfrm>
          <a:prstGeom prst="rect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THE PROBLEM — WHY MINUTES DECIDE LIVES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389888"/>
            <a:ext cx="5870448" cy="1883664"/>
          </a:xfrm>
          <a:prstGeom prst="rect">
            <a:avLst/>
          </a:prstGeom>
          <a:solidFill>
            <a:srgbClr val="FFFFFF"/>
          </a:solidFill>
          <a:ln w="15875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27432" bIns="27432">
            <a:noAutofit/>
          </a:bodyPr>
          <a:lstStyle/>
          <a:p>
            <a:pPr algn="just" marL="173736" indent="-173736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Font typeface="Times New Roman"/>
              <a:buChar char="•"/>
            </a:pPr>
            <a:r>
              <a:rPr sz="110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Cloudbursts over steep Himalayan catchments turn into destructive flash floods with barely minutes of warning — Kedarnath 2013, Chamoli 2021, Dharali 2025.</a:t>
            </a:r>
          </a:p>
          <a:p>
            <a:pPr algn="just" marL="173736" indent="-173736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Font typeface="Times New Roman"/>
              <a:buChar char="•"/>
            </a:pPr>
            <a:r>
              <a:rPr sz="110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Today's forecasts stop at district / river-basin scale; nobody tells a ward when the water will actually reach it.</a:t>
            </a:r>
          </a:p>
          <a:p>
            <a:pPr algn="just" marL="173736" indent="-173736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Font typeface="Times New Roman"/>
              <a:buChar char="•"/>
            </a:pPr>
            <a:r>
              <a:rPr sz="110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Intense rain on saturated slopes steeper than 30° also triggers companion landslides — which single-hazard systems ignore.</a:t>
            </a:r>
          </a:p>
          <a:p>
            <a:pPr algn="just" marL="173736" indent="-173736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Times New Roman"/>
              <a:buChar char="•"/>
            </a:pPr>
            <a:r>
              <a:rPr sz="110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Valley networks fail precisely during disasters, so internet-only alerts never arrive.</a:t>
            </a:r>
          </a:p>
        </p:txBody>
      </p:sp>
      <p:pic>
        <p:nvPicPr>
          <p:cNvPr id="13" name="Picture 12" descr="flood_dharal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401568"/>
            <a:ext cx="2615184" cy="1920240"/>
          </a:xfrm>
          <a:prstGeom prst="rect">
            <a:avLst/>
          </a:prstGeom>
          <a:ln w="15875">
            <a:solidFill>
              <a:srgbClr val="12264C"/>
            </a:solidFill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384048" y="5340096"/>
            <a:ext cx="2615184" cy="310896"/>
          </a:xfrm>
          <a:prstGeom prst="rect">
            <a:avLst/>
          </a:prstGeom>
          <a:solidFill>
            <a:srgbClr val="EEF1F6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Dharali (Uttarkashi), Aug 2025 — flash-flood rescue  |  Source: PTI / Down To Earth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3401568"/>
            <a:ext cx="3145536" cy="274320"/>
          </a:xfrm>
          <a:prstGeom prst="rect">
            <a:avLst/>
          </a:prstGeom>
          <a:solidFill>
            <a:srgbClr val="E8A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86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EXISTING SYSTEMS  vs  HYDROSENTINEL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3712463"/>
            <a:ext cx="1572768" cy="3657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EXISTING EWS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1728" y="3712463"/>
            <a:ext cx="1572768" cy="365760"/>
          </a:xfrm>
          <a:prstGeom prst="rect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ZYPHER 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4078224"/>
            <a:ext cx="1572768" cy="521207"/>
          </a:xfrm>
          <a:prstGeom prst="rect">
            <a:avLst/>
          </a:prstGeom>
          <a:solidFill>
            <a:srgbClr val="F8F4EA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Basin-wide forecasts, hours late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81728" y="4078224"/>
            <a:ext cx="1572768" cy="521207"/>
          </a:xfrm>
          <a:prstGeom prst="rect">
            <a:avLst/>
          </a:prstGeom>
          <a:solidFill>
            <a:srgbClr val="F8F4EA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Ward-level minutes-to-crest countdown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4599432"/>
            <a:ext cx="1572768" cy="521207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Internet-only alerts; die in storms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728" y="4599432"/>
            <a:ext cx="1572768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Offline SMS-112 + 3.5 kHz beacon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5120640"/>
            <a:ext cx="1572768" cy="521207"/>
          </a:xfrm>
          <a:prstGeom prst="rect">
            <a:avLst/>
          </a:prstGeom>
          <a:solidFill>
            <a:srgbClr val="F8F4EA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Flood-only hazard 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1728" y="5120640"/>
            <a:ext cx="1572768" cy="521207"/>
          </a:xfrm>
          <a:prstGeom prst="rect">
            <a:avLst/>
          </a:prstGeom>
          <a:solidFill>
            <a:srgbClr val="F8F4EA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Flood + landslide fused 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078992"/>
            <a:ext cx="5394960" cy="310896"/>
          </a:xfrm>
          <a:prstGeom prst="rect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OUR SOLUTION — HYDROSENTINEL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389888"/>
            <a:ext cx="5394960" cy="1316736"/>
          </a:xfrm>
          <a:prstGeom prst="rect">
            <a:avLst/>
          </a:prstGeom>
          <a:solidFill>
            <a:srgbClr val="FFFFFF"/>
          </a:solidFill>
          <a:ln w="15875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27432" bIns="27432">
            <a:noAutofit/>
          </a:bodyPr>
          <a:lstStyle/>
          <a:p>
            <a:pPr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An offline-first mobile disaster-intelligence app that fuses live IMD rainfall, NASA SMAP / ISRO soil moisture, GSI slope models and CWC river gauges into a hyper-local minutes-to-flood countdown for every ward — then routes citizens to high ground and escalates SOS over SMS-112 even when networks are down.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761488"/>
            <a:ext cx="5394960" cy="274320"/>
          </a:xfrm>
          <a:prstGeom prst="rect">
            <a:avLst/>
          </a:prstGeom>
          <a:solidFill>
            <a:srgbClr val="E8A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APP FEATURES — WHAT NO EXISTING SYSTEM OFFERS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3159252"/>
            <a:ext cx="292608" cy="292608"/>
          </a:xfrm>
          <a:prstGeom prst="ellipse">
            <a:avLst/>
          </a:prstGeom>
          <a:solidFill>
            <a:srgbClr val="E8A917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108960"/>
            <a:ext cx="5010912" cy="420624"/>
          </a:xfrm>
          <a:prstGeom prst="rect">
            <a:avLst/>
          </a:prstGeom>
          <a:solidFill>
            <a:srgbClr val="F8F4EA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Hyper-local countdown — </a:t>
            </a:r>
            <a:r>
              <a:rPr sz="919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minutes-to-crest computed per ward from lag-time runoff math.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3634740"/>
            <a:ext cx="292608" cy="292608"/>
          </a:xfrm>
          <a:prstGeom prst="ellipse">
            <a:avLst/>
          </a:prstGeom>
          <a:solidFill>
            <a:srgbClr val="E8A917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4848" y="3584448"/>
            <a:ext cx="5010912" cy="420624"/>
          </a:xfrm>
          <a:prstGeom prst="rect">
            <a:avLst/>
          </a:prstGeom>
          <a:solidFill>
            <a:srgbClr val="F8F4EA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Dual-hazard fusion score — </a:t>
            </a:r>
            <a:r>
              <a:rPr sz="919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rainfall runoff × slope Factor-of-Safety → one 0–100 ward risk.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4110227"/>
            <a:ext cx="292608" cy="292608"/>
          </a:xfrm>
          <a:prstGeom prst="ellipse">
            <a:avLst/>
          </a:prstGeom>
          <a:solidFill>
            <a:srgbClr val="E8A917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84848" y="4059935"/>
            <a:ext cx="5010912" cy="420624"/>
          </a:xfrm>
          <a:prstGeom prst="rect">
            <a:avLst/>
          </a:prstGeom>
          <a:solidFill>
            <a:srgbClr val="F8F4EA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Zero-network survivability — </a:t>
            </a:r>
            <a:r>
              <a:rPr sz="919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offline cache, native SMS-112 SOS with live GPS pin.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4585716"/>
            <a:ext cx="292608" cy="292608"/>
          </a:xfrm>
          <a:prstGeom prst="ellipse">
            <a:avLst/>
          </a:prstGeom>
          <a:solidFill>
            <a:srgbClr val="E8A917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4535424"/>
            <a:ext cx="5010912" cy="420624"/>
          </a:xfrm>
          <a:prstGeom prst="rect">
            <a:avLst/>
          </a:prstGeom>
          <a:solidFill>
            <a:srgbClr val="F8F4EA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3-shake accelerometer SOS — </a:t>
            </a:r>
            <a:r>
              <a:rPr sz="919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CAP-v1.2 beacon to 112 + family — hands-free, in any weather.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5061204"/>
            <a:ext cx="292608" cy="292608"/>
          </a:xfrm>
          <a:prstGeom prst="ellipse">
            <a:avLst/>
          </a:prstGeom>
          <a:solidFill>
            <a:srgbClr val="E8A917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84848" y="5010912"/>
            <a:ext cx="5010912" cy="420624"/>
          </a:xfrm>
          <a:prstGeom prst="rect">
            <a:avLst/>
          </a:prstGeom>
          <a:solidFill>
            <a:srgbClr val="F8F4EA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3.5 kHz rescue siren — </a:t>
            </a:r>
            <a:r>
              <a:rPr sz="919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pulsed acoustic beacon tuned to guide NDRF parties &amp; K-9 units.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0" y="5536692"/>
            <a:ext cx="292608" cy="292608"/>
          </a:xfrm>
          <a:prstGeom prst="ellipse">
            <a:avLst/>
          </a:prstGeom>
          <a:solidFill>
            <a:srgbClr val="E8A917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84848" y="5486400"/>
            <a:ext cx="5010912" cy="420624"/>
          </a:xfrm>
          <a:prstGeom prst="rect">
            <a:avLst/>
          </a:prstGeom>
          <a:solidFill>
            <a:srgbClr val="F8F4EA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Zero-text dialect UI — </a:t>
            </a:r>
            <a:r>
              <a:rPr sz="919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Garhwali / Kumaoni / Himachali icons + TTS voice alerts.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0" y="6012179"/>
            <a:ext cx="292608" cy="292608"/>
          </a:xfrm>
          <a:prstGeom prst="ellipse">
            <a:avLst/>
          </a:prstGeom>
          <a:solidFill>
            <a:srgbClr val="E8A917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5961888"/>
            <a:ext cx="5010912" cy="420624"/>
          </a:xfrm>
          <a:prstGeom prst="rect">
            <a:avLst/>
          </a:prstGeom>
          <a:solidFill>
            <a:srgbClr val="F8F4EA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3D escape routing — </a:t>
            </a:r>
            <a:r>
              <a:rPr sz="919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contour-aware walk paths to surveyed ridge shelters — 18 min max.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zypher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55448"/>
            <a:ext cx="513989" cy="640080"/>
          </a:xfrm>
          <a:prstGeom prst="rect">
            <a:avLst/>
          </a:prstGeom>
          <a:effectLst/>
        </p:spPr>
      </p:pic>
      <p:sp>
        <p:nvSpPr>
          <p:cNvPr id="3" name="Oval 2"/>
          <p:cNvSpPr/>
          <p:nvPr/>
        </p:nvSpPr>
        <p:spPr>
          <a:xfrm>
            <a:off x="877824" y="155448"/>
            <a:ext cx="1481328" cy="749808"/>
          </a:xfrm>
          <a:prstGeom prst="ellipse">
            <a:avLst/>
          </a:prstGeom>
          <a:noFill/>
          <a:ln w="2032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ZYPHER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182880"/>
            <a:ext cx="6675120" cy="67665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pic>
        <p:nvPicPr>
          <p:cNvPr id="5" name="Picture 4" descr="sih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91440"/>
            <a:ext cx="634776" cy="804672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10409712" y="115580"/>
            <a:ext cx="1751807" cy="804672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SMART INDIA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HACKATHON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6048" y="896112"/>
            <a:ext cx="2286000" cy="25603"/>
          </a:xfrm>
          <a:prstGeom prst="rect">
            <a:avLst/>
          </a:prstGeom>
          <a:solidFill>
            <a:srgbClr val="E8A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2609" cy="3200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6537960"/>
            <a:ext cx="5790895" cy="32004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37960"/>
            <a:ext cx="457200" cy="32004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115568"/>
            <a:ext cx="2724912" cy="365760"/>
          </a:xfrm>
          <a:prstGeom prst="rect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 · SENSE — LIVE FEEDS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90672" y="1197864"/>
            <a:ext cx="310896" cy="201168"/>
          </a:xfrm>
          <a:prstGeom prst="rightArrow">
            <a:avLst/>
          </a:prstGeom>
          <a:solidFill>
            <a:srgbClr val="E8A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55264" y="1115568"/>
            <a:ext cx="2724912" cy="365760"/>
          </a:xfrm>
          <a:prstGeom prst="rect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 · FUSE — RISK ENGINE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61888" y="1197864"/>
            <a:ext cx="310896" cy="201168"/>
          </a:xfrm>
          <a:prstGeom prst="rightArrow">
            <a:avLst/>
          </a:prstGeom>
          <a:solidFill>
            <a:srgbClr val="E8A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115568"/>
            <a:ext cx="2724912" cy="365760"/>
          </a:xfrm>
          <a:prstGeom prst="rect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 · DECIDE — ALERT LOGIC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33104" y="1197864"/>
            <a:ext cx="310896" cy="201168"/>
          </a:xfrm>
          <a:prstGeom prst="rightArrow">
            <a:avLst/>
          </a:prstGeom>
          <a:solidFill>
            <a:srgbClr val="E8A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97696" y="1115568"/>
            <a:ext cx="2724912" cy="365760"/>
          </a:xfrm>
          <a:prstGeom prst="rect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 · ACT — CITIZEN 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1517904"/>
            <a:ext cx="2724912" cy="2304288"/>
          </a:xfrm>
          <a:prstGeom prst="rect">
            <a:avLst/>
          </a:prstGeom>
          <a:solidFill>
            <a:srgbClr val="F8F4EA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" y="1591056"/>
            <a:ext cx="2560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IMD Doppler radar + 1-min AWS rainfall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" y="2144268"/>
            <a:ext cx="2560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NASA SMAP / GPM + ISRO Bhuvan-MOSDAC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" y="2697480"/>
            <a:ext cx="2560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GSI Bhukosh 30 m DEM — slopes &gt; 30°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" y="3250691"/>
            <a:ext cx="2560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CWC FloodWatch hydro-post river levels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5264" y="1517904"/>
            <a:ext cx="2724912" cy="2304288"/>
          </a:xfrm>
          <a:prstGeom prst="rect">
            <a:avLst/>
          </a:prstGeom>
          <a:solidFill>
            <a:srgbClr val="F8F4EA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37560" y="1591056"/>
            <a:ext cx="2560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Lag-time runoff model → minutes to crest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2144268"/>
            <a:ext cx="2560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Infinite-slope Factor of Safety (Fs)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2697480"/>
            <a:ext cx="2560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4-factor weighted score (40·25·20·15)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3250691"/>
            <a:ext cx="2560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30-yr IMD LPA baselines for departure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17904"/>
            <a:ext cx="2724912" cy="2304288"/>
          </a:xfrm>
          <a:prstGeom prst="rect">
            <a:avLst/>
          </a:prstGeom>
          <a:solidFill>
            <a:srgbClr val="F8F4EA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08776" y="1591056"/>
            <a:ext cx="2560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Advisory ≥ 30 · High ≥ 55 · Critical ≥ 75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08776" y="2144268"/>
            <a:ext cx="2560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Offline SQLite cache &amp; retry queue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2697480"/>
            <a:ext cx="2560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Geo-fenced ward-level targeting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8776" y="3250691"/>
            <a:ext cx="2560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Priority-sorted alert cards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97696" y="1517904"/>
            <a:ext cx="2724912" cy="2304288"/>
          </a:xfrm>
          <a:prstGeom prst="rect">
            <a:avLst/>
          </a:prstGeom>
          <a:solidFill>
            <a:srgbClr val="F8F4EA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79992" y="1591056"/>
            <a:ext cx="2560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Ward alerts + NDRF action guidance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79992" y="2144268"/>
            <a:ext cx="2560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Garhwali / Kumaoni dialect TTS alerts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79992" y="2697480"/>
            <a:ext cx="2560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3-shake CAP-v1.2 SOS → SMS-112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79992" y="3250691"/>
            <a:ext cx="2560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3.5 kHz K-9 beacon + 3D escape routing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3968496"/>
            <a:ext cx="2724912" cy="2487168"/>
          </a:xfrm>
          <a:prstGeom prst="rect">
            <a:avLst/>
          </a:prstGeom>
          <a:solidFill>
            <a:srgbClr val="FFFFFF"/>
          </a:solidFill>
          <a:ln w="15875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041648"/>
            <a:ext cx="2578608" cy="457200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INSIDE THE APP — LIVE SCREENS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ward dashboard · 3D escape route · 3-shake SOS</a:t>
            </a:r>
          </a:p>
        </p:txBody>
      </p:sp>
      <p:pic>
        <p:nvPicPr>
          <p:cNvPr id="40" name="Picture 39" descr="app_s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4553712"/>
            <a:ext cx="904774" cy="1828800"/>
          </a:xfrm>
          <a:prstGeom prst="rect">
            <a:avLst/>
          </a:prstGeom>
          <a:effectLst/>
        </p:spPr>
      </p:pic>
      <p:pic>
        <p:nvPicPr>
          <p:cNvPr id="41" name="Picture 40" descr="app_s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553712"/>
            <a:ext cx="904774" cy="1828800"/>
          </a:xfrm>
          <a:prstGeom prst="rect">
            <a:avLst/>
          </a:prstGeom>
          <a:effectLst/>
        </p:spPr>
      </p:pic>
      <p:pic>
        <p:nvPicPr>
          <p:cNvPr id="42" name="Picture 41" descr="app_s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8256" y="4553712"/>
            <a:ext cx="904774" cy="1828800"/>
          </a:xfrm>
          <a:prstGeom prst="rect">
            <a:avLst/>
          </a:prstGeom>
          <a:effectLst/>
        </p:spPr>
      </p:pic>
      <p:sp>
        <p:nvSpPr>
          <p:cNvPr id="43" name="Rectangle 42"/>
          <p:cNvSpPr/>
          <p:nvPr/>
        </p:nvSpPr>
        <p:spPr>
          <a:xfrm>
            <a:off x="3218688" y="3968496"/>
            <a:ext cx="3749039" cy="2926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TECHNOLOGY STACK (OPEN-SOURCE)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4261104"/>
            <a:ext cx="3749039" cy="2194560"/>
          </a:xfrm>
          <a:prstGeom prst="rect">
            <a:avLst/>
          </a:prstGeom>
          <a:solidFill>
            <a:srgbClr val="F8F4EA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00984" y="4334256"/>
            <a:ext cx="174650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React Native 0.74 + TypeScript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9783" y="4334256"/>
            <a:ext cx="174650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Node.js micro-services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00984" y="4860036"/>
            <a:ext cx="174650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SQLite offline-first DB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29783" y="4860036"/>
            <a:ext cx="174650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Zustand state store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00984" y="5385816"/>
            <a:ext cx="174650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Leaflet + OpenStreetMap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9783" y="5385816"/>
            <a:ext cx="174650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NetInfo instant failover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00984" y="5911596"/>
            <a:ext cx="174650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GPS + accelerometer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9783" y="5911596"/>
            <a:ext cx="1746504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Gradle release APK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14032" y="3968496"/>
            <a:ext cx="4608576" cy="292608"/>
          </a:xfrm>
          <a:prstGeom prst="rect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MODELS EXECUTING ON-DEVICE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14032" y="4261104"/>
            <a:ext cx="4608576" cy="2194560"/>
          </a:xfrm>
          <a:prstGeom prst="rect">
            <a:avLst/>
          </a:prstGeom>
          <a:solidFill>
            <a:srgbClr val="12264C"/>
          </a:solidFill>
          <a:ln w="12700">
            <a:solidFill>
              <a:srgbClr val="E8A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060" b="1" i="0">
                <a:solidFill>
                  <a:srgbClr val="E8A917"/>
                </a:solidFill>
                <a:latin typeface="Times New Roman"/>
                <a:ea typeface="Times New Roman"/>
                <a:cs typeface="Times New Roman"/>
              </a:rPr>
              <a:t>Lead time (min) = 180 − Δsoil − Δslope − Δrain</a:t>
            </a:r>
            <a:r>
              <a:rPr sz="880" b="0" i="0">
                <a:solidFill>
                  <a:srgbClr val="DCE3F0"/>
                </a:solidFill>
                <a:latin typeface="Times New Roman"/>
                <a:ea typeface="Times New Roman"/>
                <a:cs typeface="Times New Roman"/>
              </a:rPr>
              <a:t>  (clamped 18–240)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060" b="1" i="0">
                <a:solidFill>
                  <a:srgbClr val="E8A917"/>
                </a:solidFill>
                <a:latin typeface="Times New Roman"/>
                <a:ea typeface="Times New Roman"/>
                <a:cs typeface="Times New Roman"/>
              </a:rPr>
              <a:t>Slope Fs = 1.65 − (saturation % × 0.008)</a:t>
            </a:r>
            <a:r>
              <a:rPr sz="880" b="0" i="0">
                <a:solidFill>
                  <a:srgbClr val="DCE3F0"/>
                </a:solidFill>
                <a:latin typeface="Times New Roman"/>
                <a:ea typeface="Times New Roman"/>
                <a:cs typeface="Times New Roman"/>
              </a:rPr>
              <a:t>  → Fs &lt; 1.0 = failure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060" b="1" i="0">
                <a:solidFill>
                  <a:srgbClr val="E8A917"/>
                </a:solidFill>
                <a:latin typeface="Times New Roman"/>
                <a:ea typeface="Times New Roman"/>
                <a:cs typeface="Times New Roman"/>
              </a:rPr>
              <a:t>Score = 0.40·Rain + 0.25·Soil + 0.20·Slope + 0.15·Road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DCE3F0"/>
                </a:solidFill>
                <a:latin typeface="Times New Roman"/>
                <a:ea typeface="Times New Roman"/>
                <a:cs typeface="Times New Roman"/>
              </a:rPr>
              <a:t>Fail-safe by design: a dead feed freezes at its last cached value — the system never goes blind.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zypher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55448"/>
            <a:ext cx="513989" cy="640080"/>
          </a:xfrm>
          <a:prstGeom prst="rect">
            <a:avLst/>
          </a:prstGeom>
          <a:effectLst/>
        </p:spPr>
      </p:pic>
      <p:sp>
        <p:nvSpPr>
          <p:cNvPr id="3" name="Oval 2"/>
          <p:cNvSpPr/>
          <p:nvPr/>
        </p:nvSpPr>
        <p:spPr>
          <a:xfrm>
            <a:off x="877824" y="155448"/>
            <a:ext cx="1481328" cy="749808"/>
          </a:xfrm>
          <a:prstGeom prst="ellipse">
            <a:avLst/>
          </a:prstGeom>
          <a:noFill/>
          <a:ln w="2032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ZYPHER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182880"/>
            <a:ext cx="6675120" cy="67665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pic>
        <p:nvPicPr>
          <p:cNvPr id="5" name="Picture 4" descr="sih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91440"/>
            <a:ext cx="634776" cy="804672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10409712" y="115580"/>
            <a:ext cx="1751807" cy="804672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SMART INDIA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HACKATHON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6048" y="896112"/>
            <a:ext cx="2286000" cy="25603"/>
          </a:xfrm>
          <a:prstGeom prst="rect">
            <a:avLst/>
          </a:prstGeom>
          <a:solidFill>
            <a:srgbClr val="E8A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2609" cy="3200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6537960"/>
            <a:ext cx="5790895" cy="32004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37960"/>
            <a:ext cx="457200" cy="32004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5577840" cy="310896"/>
          </a:xfrm>
          <a:prstGeom prst="rect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FEASIBILITY — BUILT AND WORKING 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389888"/>
            <a:ext cx="5577840" cy="2139696"/>
          </a:xfrm>
          <a:prstGeom prst="rect">
            <a:avLst/>
          </a:prstGeom>
          <a:solidFill>
            <a:srgbClr val="FFFFFF"/>
          </a:solidFill>
          <a:ln w="15875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463040"/>
            <a:ext cx="2651760" cy="1993392"/>
          </a:xfrm>
          <a:prstGeom prst="rect">
            <a:avLst/>
          </a:prstGeom>
          <a:noFill/>
        </p:spPr>
        <p:txBody>
          <a:bodyPr wrap="square" lIns="18288" rIns="18288" tIns="27432" bIns="27432" anchor="t">
            <a:noAutofit/>
          </a:bodyPr>
          <a:lstStyle/>
          <a:p>
            <a:pPr algn="l" marL="173736" indent="-173736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Font typeface="Times New Roman"/>
              <a:buChar char="•"/>
            </a:pPr>
            <a:r>
              <a:rPr sz="98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Release APK compiled and running on stock Android — zero special hardware.</a:t>
            </a:r>
          </a:p>
          <a:p>
            <a:pPr algn="l" marL="173736" indent="-173736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Font typeface="Times New Roman"/>
              <a:buChar char="•"/>
            </a:pPr>
            <a:r>
              <a:rPr sz="98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Live feeds operational: IMD portal, CWC FloodWatch, NASA SMAP.</a:t>
            </a:r>
          </a:p>
          <a:p>
            <a:pPr algn="l" marL="173736" indent="-173736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Font typeface="Times New Roman"/>
              <a:buChar char="•"/>
            </a:pPr>
            <a:r>
              <a:rPr sz="98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Every feed is public — zero data cost.</a:t>
            </a:r>
          </a:p>
          <a:p>
            <a:pPr algn="l" marL="173736" indent="-173736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Times New Roman"/>
              <a:buChar char="•"/>
            </a:pPr>
            <a:r>
              <a:rPr sz="98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11 core modules functional — dashboard, risk engine, routing, dual SOS.</a:t>
            </a:r>
          </a:p>
        </p:txBody>
      </p:sp>
      <p:pic>
        <p:nvPicPr>
          <p:cNvPr id="14" name="Picture 13" descr="app_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1499616"/>
            <a:ext cx="931917" cy="1883664"/>
          </a:xfrm>
          <a:prstGeom prst="rect">
            <a:avLst/>
          </a:prstGeom>
          <a:effectLst/>
        </p:spPr>
      </p:pic>
      <p:pic>
        <p:nvPicPr>
          <p:cNvPr id="15" name="Picture 14" descr="app_s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1499616"/>
            <a:ext cx="931917" cy="1883664"/>
          </a:xfrm>
          <a:prstGeom prst="rect">
            <a:avLst/>
          </a:prstGeom>
          <a:effectLst/>
        </p:spPr>
      </p:pic>
      <p:pic>
        <p:nvPicPr>
          <p:cNvPr id="16" name="Picture 15" descr="logo_nas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8384" y="1554480"/>
            <a:ext cx="294264" cy="274320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5212080" y="1883664"/>
            <a:ext cx="676656" cy="1463040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NASA SMAP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1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28% live root-zone soil moisture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8192" y="1078992"/>
            <a:ext cx="5705856" cy="31089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VIABILITY — SCALES ACROSS THE HIMALAYAN ARC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8192" y="1389888"/>
            <a:ext cx="5705856" cy="2139696"/>
          </a:xfrm>
          <a:prstGeom prst="rect">
            <a:avLst/>
          </a:prstGeom>
          <a:solidFill>
            <a:srgbClr val="FFFFFF"/>
          </a:solidFill>
          <a:ln w="15875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27432" bIns="27432">
            <a:noAutofit/>
          </a:bodyPr>
          <a:lstStyle/>
          <a:p>
            <a:pPr algn="just" marL="173736" indent="-173736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Times New Roman"/>
              <a:buChar char="•"/>
            </a:pPr>
            <a:r>
              <a:rPr sz="105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Smartphone-only rollout — districts need no towers, gauges or capital hardware.</a:t>
            </a:r>
          </a:p>
          <a:p>
            <a:pPr algn="just" marL="173736" indent="-173736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Times New Roman"/>
              <a:buChar char="•"/>
            </a:pPr>
            <a:r>
              <a:rPr sz="105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ERSS-112 native: distress SMS rides emergency rails already operated by MHA.</a:t>
            </a:r>
          </a:p>
          <a:p>
            <a:pPr algn="just" marL="173736" indent="-173736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Font typeface="Times New Roman"/>
              <a:buChar char="•"/>
            </a:pPr>
            <a:r>
              <a:rPr sz="105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One codebase replicates along the 2,500 km Himalayan arc — J&amp;K to Arunachal Pradesh.</a:t>
            </a:r>
          </a:p>
          <a:p>
            <a:pPr algn="just" marL="173736" indent="-173736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Times New Roman"/>
              <a:buChar char="•"/>
            </a:pPr>
            <a:r>
              <a:rPr sz="105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Phase 2 roadmap (honestly scoped): NDRF control-room console, responder triage app, LoRa mesh for dead zones.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657600"/>
            <a:ext cx="11430000" cy="292608"/>
          </a:xfrm>
          <a:prstGeom prst="rect">
            <a:avLst/>
          </a:prstGeom>
          <a:solidFill>
            <a:srgbClr val="E8A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CHALLENGES  →  ENGINEERED ANSWERS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986784"/>
            <a:ext cx="3931920" cy="365760"/>
          </a:xfrm>
          <a:prstGeom prst="rect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FIELD CHALLENGE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3986784"/>
            <a:ext cx="7498079" cy="365760"/>
          </a:xfrm>
          <a:prstGeom prst="rect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HOW HYDROSENTINEL ANSWERS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4352544"/>
            <a:ext cx="3931920" cy="457200"/>
          </a:xfrm>
          <a:prstGeom prst="rect">
            <a:avLst/>
          </a:prstGeom>
          <a:solidFill>
            <a:srgbClr val="F8F4EA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Mountain networks die mid-storm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4352544"/>
            <a:ext cx="749807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Offline-first SQLite + native SMS-112 failover; telemetry queues and syncs on reconnect.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841748"/>
            <a:ext cx="3931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Sensor blackspots in remote valleys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4841748"/>
            <a:ext cx="749807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Satellite soil-moisture grid plus citizen crowd-reports continuously recalibrate the model.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5330952"/>
            <a:ext cx="3931920" cy="457200"/>
          </a:xfrm>
          <a:prstGeom prst="rect">
            <a:avLst/>
          </a:prstGeom>
          <a:solidFill>
            <a:srgbClr val="F8F4EA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False-alarm fatigue erodes trust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5968" y="5330952"/>
            <a:ext cx="749807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Sirens only after the weighted 4-factor score crosses 30-yr LPA-adjusted thresholds.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5820156"/>
            <a:ext cx="3931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Hands are wet, cold, shaking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5968" y="5820156"/>
            <a:ext cx="749807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Shake-to-SOS accelerometer trigger and 3.5 kHz beacon — no touchscreen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zypher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55448"/>
            <a:ext cx="513989" cy="640080"/>
          </a:xfrm>
          <a:prstGeom prst="rect">
            <a:avLst/>
          </a:prstGeom>
          <a:effectLst/>
        </p:spPr>
      </p:pic>
      <p:sp>
        <p:nvSpPr>
          <p:cNvPr id="3" name="Oval 2"/>
          <p:cNvSpPr/>
          <p:nvPr/>
        </p:nvSpPr>
        <p:spPr>
          <a:xfrm>
            <a:off x="877824" y="155448"/>
            <a:ext cx="1481328" cy="749808"/>
          </a:xfrm>
          <a:prstGeom prst="ellipse">
            <a:avLst/>
          </a:prstGeom>
          <a:noFill/>
          <a:ln w="2032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ZYPHER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182880"/>
            <a:ext cx="6675120" cy="67665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pic>
        <p:nvPicPr>
          <p:cNvPr id="5" name="Picture 4" descr="sih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91440"/>
            <a:ext cx="634776" cy="804672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10409712" y="115580"/>
            <a:ext cx="1751807" cy="804672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SMART INDIA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HACKATHON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6048" y="896112"/>
            <a:ext cx="2286000" cy="25603"/>
          </a:xfrm>
          <a:prstGeom prst="rect">
            <a:avLst/>
          </a:prstGeom>
          <a:solidFill>
            <a:srgbClr val="E8A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2609" cy="3200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6537960"/>
            <a:ext cx="5790895" cy="32004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37960"/>
            <a:ext cx="457200" cy="32004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1097280"/>
            <a:ext cx="3346704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E8A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30–90 min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of actionable evacuation lead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097280"/>
            <a:ext cx="3346704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E8A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Ward-level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hyper-local alerts — not district averages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9288" y="1097280"/>
            <a:ext cx="3346704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E8A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Zero-connectivity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offline survivability built in by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1828800"/>
            <a:ext cx="5705856" cy="1298448"/>
          </a:xfrm>
          <a:prstGeom prst="rect">
            <a:avLst/>
          </a:prstGeom>
          <a:solidFill>
            <a:srgbClr val="FFFFFF"/>
          </a:solidFill>
          <a:ln w="15875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0352" y="2194560"/>
            <a:ext cx="566928" cy="566928"/>
          </a:xfrm>
          <a:prstGeom prst="ellipse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8A917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1929384"/>
            <a:ext cx="4718304" cy="27432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SOCIAL — Minutes Become Lives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2212848"/>
            <a:ext cx="4718304" cy="85953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Guided high-ground routes reach elders, children and pilgrims in plain language; an SMS-first design includes basic-phone users that app-only alerts leave behind.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8192" y="1828800"/>
            <a:ext cx="5705856" cy="1298448"/>
          </a:xfrm>
          <a:prstGeom prst="rect">
            <a:avLst/>
          </a:prstGeom>
          <a:solidFill>
            <a:srgbClr val="FFFFFF"/>
          </a:solidFill>
          <a:ln w="15875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54496" y="2194560"/>
            <a:ext cx="566928" cy="566928"/>
          </a:xfrm>
          <a:prstGeom prst="ellipse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8A917"/>
                </a:solidFill>
                <a:latin typeface="Times New Roman"/>
                <a:ea typeface="Times New Roman"/>
                <a:cs typeface="Times New Roman"/>
              </a:rPr>
              <a:t>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7" y="1929384"/>
            <a:ext cx="4718304" cy="27432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ECONOMIC — Cheaper Than One Rescue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7" y="2212848"/>
            <a:ext cx="4718304" cy="85953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Prevented washouts protect roads, homes and the yatra tourism economy; a district deploys for virtually nothing beyond phones citizens already own.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218688"/>
            <a:ext cx="5705856" cy="1298448"/>
          </a:xfrm>
          <a:prstGeom prst="rect">
            <a:avLst/>
          </a:prstGeom>
          <a:solidFill>
            <a:srgbClr val="FFFFFF"/>
          </a:solidFill>
          <a:ln w="15875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0352" y="3584448"/>
            <a:ext cx="566928" cy="566928"/>
          </a:xfrm>
          <a:prstGeom prst="ellipse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8A917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" y="3319272"/>
            <a:ext cx="4718304" cy="27432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ENVIRONMENTAL — Gentler on Fragile Slopes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" y="3602736"/>
            <a:ext cx="4718304" cy="85953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Crowd-reported washouts build a living record of catchment health, and planned evacuation means less panic damage and emergency blasting on unstable terrain.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3218688"/>
            <a:ext cx="5705856" cy="1298448"/>
          </a:xfrm>
          <a:prstGeom prst="rect">
            <a:avLst/>
          </a:prstGeom>
          <a:solidFill>
            <a:srgbClr val="FFFFFF"/>
          </a:solidFill>
          <a:ln w="15875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54496" y="3584448"/>
            <a:ext cx="566928" cy="566928"/>
          </a:xfrm>
          <a:prstGeom prst="ellipse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8A917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7" y="3319272"/>
            <a:ext cx="4718304" cy="27432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GOVERNANCE — NDRF-Ready by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7" y="3602736"/>
            <a:ext cx="4718304" cy="85953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Every SOS lands on ERSS-112 rails with a ±5 m GPS pin, letting responders triage by severity before a single boot moves. Officer console roadmapped.</a:t>
            </a:r>
          </a:p>
        </p:txBody>
      </p:sp>
      <p:pic>
        <p:nvPicPr>
          <p:cNvPr id="30" name="Picture 29" descr="ndrf_rescu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681728"/>
            <a:ext cx="3675887" cy="1481328"/>
          </a:xfrm>
          <a:prstGeom prst="rect">
            <a:avLst/>
          </a:prstGeom>
          <a:ln w="15875">
            <a:solidFill>
              <a:srgbClr val="12264C"/>
            </a:solidFill>
          </a:ln>
          <a:effectLst/>
        </p:spPr>
      </p:pic>
      <p:sp>
        <p:nvSpPr>
          <p:cNvPr id="31" name="Rectangle 30"/>
          <p:cNvSpPr/>
          <p:nvPr/>
        </p:nvSpPr>
        <p:spPr>
          <a:xfrm>
            <a:off x="384048" y="6163056"/>
            <a:ext cx="3675887" cy="292608"/>
          </a:xfrm>
          <a:prstGeom prst="rect">
            <a:avLst/>
          </a:prstGeom>
          <a:solidFill>
            <a:srgbClr val="EEF1F6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NDRF evacuation — earlier alerts launch boats sooner</a:t>
            </a:r>
          </a:p>
        </p:txBody>
      </p:sp>
      <p:pic>
        <p:nvPicPr>
          <p:cNvPr id="32" name="Picture 31" descr="vill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4681728"/>
            <a:ext cx="3675887" cy="1481328"/>
          </a:xfrm>
          <a:prstGeom prst="rect">
            <a:avLst/>
          </a:prstGeom>
          <a:ln w="15875">
            <a:solidFill>
              <a:srgbClr val="12264C"/>
            </a:solidFill>
          </a:ln>
          <a:effectLst/>
        </p:spPr>
      </p:pic>
      <p:sp>
        <p:nvSpPr>
          <p:cNvPr id="33" name="Rectangle 32"/>
          <p:cNvSpPr/>
          <p:nvPr/>
        </p:nvSpPr>
        <p:spPr>
          <a:xfrm>
            <a:off x="4251960" y="6163056"/>
            <a:ext cx="3675887" cy="292608"/>
          </a:xfrm>
          <a:prstGeom prst="rect">
            <a:avLst/>
          </a:prstGeom>
          <a:solidFill>
            <a:srgbClr val="EEF1F6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Joshimath belt — dense homes on fragile slopes</a:t>
            </a:r>
          </a:p>
        </p:txBody>
      </p:sp>
      <p:pic>
        <p:nvPicPr>
          <p:cNvPr id="34" name="Picture 33" descr="landslid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2" y="4681728"/>
            <a:ext cx="3675887" cy="1481328"/>
          </a:xfrm>
          <a:prstGeom prst="rect">
            <a:avLst/>
          </a:prstGeom>
          <a:ln w="15875">
            <a:solidFill>
              <a:srgbClr val="12264C"/>
            </a:solidFill>
          </a:ln>
          <a:effectLst/>
        </p:spPr>
      </p:pic>
      <p:sp>
        <p:nvSpPr>
          <p:cNvPr id="35" name="Rectangle 34"/>
          <p:cNvSpPr/>
          <p:nvPr/>
        </p:nvSpPr>
        <p:spPr>
          <a:xfrm>
            <a:off x="8119872" y="6163056"/>
            <a:ext cx="3675887" cy="292608"/>
          </a:xfrm>
          <a:prstGeom prst="rect">
            <a:avLst/>
          </a:prstGeom>
          <a:solidFill>
            <a:srgbClr val="EEF1F6"/>
          </a:solidFill>
          <a:ln w="9525">
            <a:solidFill>
              <a:srgbClr val="B7B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Shimla corridor, 2023 — monsoon landslides cut roads in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zypher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55448"/>
            <a:ext cx="513989" cy="640080"/>
          </a:xfrm>
          <a:prstGeom prst="rect">
            <a:avLst/>
          </a:prstGeom>
          <a:effectLst/>
        </p:spPr>
      </p:pic>
      <p:sp>
        <p:nvSpPr>
          <p:cNvPr id="3" name="Oval 2"/>
          <p:cNvSpPr/>
          <p:nvPr/>
        </p:nvSpPr>
        <p:spPr>
          <a:xfrm>
            <a:off x="877824" y="155448"/>
            <a:ext cx="1481328" cy="749808"/>
          </a:xfrm>
          <a:prstGeom prst="ellipse">
            <a:avLst/>
          </a:prstGeom>
          <a:noFill/>
          <a:ln w="2032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ZYPHER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182880"/>
            <a:ext cx="6675120" cy="67665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pic>
        <p:nvPicPr>
          <p:cNvPr id="5" name="Picture 4" descr="sih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91440"/>
            <a:ext cx="634776" cy="804672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10409712" y="115580"/>
            <a:ext cx="1751807" cy="804672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SMART INDIA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HACKATHON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2" b="1" i="0">
                <a:solidFill>
                  <a:srgbClr val="3B4A54"/>
                </a:solidFill>
                <a:latin typeface="Times New Roman"/>
                <a:ea typeface="Times New Roman"/>
                <a:cs typeface="Times New Roman"/>
              </a:rP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6048" y="896112"/>
            <a:ext cx="2286000" cy="25603"/>
          </a:xfrm>
          <a:prstGeom prst="rect">
            <a:avLst/>
          </a:prstGeom>
          <a:solidFill>
            <a:srgbClr val="E8A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2609" cy="32004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6537960"/>
            <a:ext cx="5790895" cy="32004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37960"/>
            <a:ext cx="457200" cy="32004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5870448" cy="310896"/>
          </a:xfrm>
          <a:prstGeom prst="rect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OFFICIAL FRAMEWORKS · DATA · STANDARDS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389888"/>
            <a:ext cx="5870448" cy="2157984"/>
          </a:xfrm>
          <a:prstGeom prst="rect">
            <a:avLst/>
          </a:prstGeom>
          <a:solidFill>
            <a:srgbClr val="FFFFFF"/>
          </a:solidFill>
          <a:ln w="15875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" bIns="27432">
            <a:noAutofit/>
          </a:bodyPr>
          <a:lstStyle/>
          <a:p>
            <a:pPr algn="just">
              <a:lnSpc>
                <a:spcPct val="103000"/>
              </a:lnSpc>
              <a:spcBef>
                <a:spcPts val="0"/>
              </a:spcBef>
              <a:spcAft>
                <a:spcPts val="546"/>
              </a:spcAft>
            </a:pPr>
            <a:r>
              <a:rPr sz="910" b="1" i="0">
                <a:solidFill>
                  <a:srgbClr val="B9860B"/>
                </a:solidFill>
                <a:latin typeface="Times New Roman"/>
                <a:ea typeface="Times New Roman"/>
                <a:cs typeface="Times New Roman"/>
              </a:rPr>
              <a:t>1.  </a:t>
            </a:r>
            <a:r>
              <a:rPr sz="91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India Meteorological Department</a:t>
            </a:r>
            <a:r>
              <a:rPr sz="891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 — real-time rainfall, station norms &amp; % departures (mausam.imd.gov.in)</a:t>
            </a:r>
          </a:p>
          <a:p>
            <a:pPr algn="just">
              <a:lnSpc>
                <a:spcPct val="103000"/>
              </a:lnSpc>
              <a:spcBef>
                <a:spcPts val="0"/>
              </a:spcBef>
              <a:spcAft>
                <a:spcPts val="546"/>
              </a:spcAft>
            </a:pPr>
            <a:r>
              <a:rPr sz="910" b="1" i="0">
                <a:solidFill>
                  <a:srgbClr val="B9860B"/>
                </a:solidFill>
                <a:latin typeface="Times New Roman"/>
                <a:ea typeface="Times New Roman"/>
                <a:cs typeface="Times New Roman"/>
              </a:rPr>
              <a:t>2.  </a:t>
            </a:r>
            <a:r>
              <a:rPr sz="91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NDMA National Guidelines</a:t>
            </a:r>
            <a:r>
              <a:rPr sz="891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 — management of floods &amp; landslides in hilly terrains (ndma.gov.in)</a:t>
            </a:r>
          </a:p>
          <a:p>
            <a:pPr algn="just">
              <a:lnSpc>
                <a:spcPct val="103000"/>
              </a:lnSpc>
              <a:spcBef>
                <a:spcPts val="0"/>
              </a:spcBef>
              <a:spcAft>
                <a:spcPts val="546"/>
              </a:spcAft>
            </a:pPr>
            <a:r>
              <a:rPr sz="910" b="1" i="0">
                <a:solidFill>
                  <a:srgbClr val="B9860B"/>
                </a:solidFill>
                <a:latin typeface="Times New Roman"/>
                <a:ea typeface="Times New Roman"/>
                <a:cs typeface="Times New Roman"/>
              </a:rPr>
              <a:t>3.  </a:t>
            </a:r>
            <a:r>
              <a:rPr sz="91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Geological Survey of India</a:t>
            </a:r>
            <a:r>
              <a:rPr sz="891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 — National Landslide Susceptibility Mapping &amp; Bhukosh 30 m DEM (gsi.gov.in)</a:t>
            </a:r>
          </a:p>
          <a:p>
            <a:pPr algn="just">
              <a:lnSpc>
                <a:spcPct val="103000"/>
              </a:lnSpc>
              <a:spcBef>
                <a:spcPts val="0"/>
              </a:spcBef>
              <a:spcAft>
                <a:spcPts val="546"/>
              </a:spcAft>
            </a:pPr>
            <a:r>
              <a:rPr sz="910" b="1" i="0">
                <a:solidFill>
                  <a:srgbClr val="B9860B"/>
                </a:solidFill>
                <a:latin typeface="Times New Roman"/>
                <a:ea typeface="Times New Roman"/>
                <a:cs typeface="Times New Roman"/>
              </a:rPr>
              <a:t>4.  </a:t>
            </a:r>
            <a:r>
              <a:rPr sz="91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Central Water Commission</a:t>
            </a:r>
            <a:r>
              <a:rPr sz="891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 — flood forecasting &amp; HFL gauge network (ffs.india-water.gov.in)</a:t>
            </a:r>
          </a:p>
          <a:p>
            <a:pPr algn="just">
              <a:lnSpc>
                <a:spcPct val="103000"/>
              </a:lnSpc>
              <a:spcBef>
                <a:spcPts val="0"/>
              </a:spcBef>
              <a:spcAft>
                <a:spcPts val="546"/>
              </a:spcAft>
            </a:pPr>
            <a:r>
              <a:rPr sz="910" b="1" i="0">
                <a:solidFill>
                  <a:srgbClr val="B9860B"/>
                </a:solidFill>
                <a:latin typeface="Times New Roman"/>
                <a:ea typeface="Times New Roman"/>
                <a:cs typeface="Times New Roman"/>
              </a:rPr>
              <a:t>5.  </a:t>
            </a:r>
            <a:r>
              <a:rPr sz="91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ERSS-112, Ministry of Home Affairs</a:t>
            </a:r>
            <a:r>
              <a:rPr sz="891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 — national emergency response &amp; distress SMS rails (112.gov.in)</a:t>
            </a:r>
          </a:p>
          <a:p>
            <a:pPr algn="just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B9860B"/>
                </a:solidFill>
                <a:latin typeface="Times New Roman"/>
                <a:ea typeface="Times New Roman"/>
                <a:cs typeface="Times New Roman"/>
              </a:rPr>
              <a:t>6.  </a:t>
            </a:r>
            <a:r>
              <a:rPr sz="91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ITU-T Recommendation X.1303</a:t>
            </a:r>
            <a:r>
              <a:rPr sz="891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 — Common Alerting Protocol for multi-hazard warnings (itu.int)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078992"/>
            <a:ext cx="5394960" cy="31089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SCIENTIFIC &amp; ENGINEERING BASIS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89888"/>
            <a:ext cx="5394960" cy="2157984"/>
          </a:xfrm>
          <a:prstGeom prst="rect">
            <a:avLst/>
          </a:prstGeom>
          <a:solidFill>
            <a:srgbClr val="FFFFFF"/>
          </a:solidFill>
          <a:ln w="15875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" bIns="27432">
            <a:noAutofit/>
          </a:bodyPr>
          <a:lstStyle/>
          <a:p>
            <a:pPr algn="just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B9860B"/>
                </a:solidFill>
                <a:latin typeface="Times New Roman"/>
                <a:ea typeface="Times New Roman"/>
                <a:cs typeface="Times New Roman"/>
              </a:rPr>
              <a:t>7.  </a:t>
            </a: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NASA SMAP Mission</a:t>
            </a:r>
            <a:r>
              <a:rPr sz="98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 — L-band root-zone soil-moisture retrievals (smap.jpl.nasa.gov)</a:t>
            </a:r>
          </a:p>
          <a:p>
            <a:pPr algn="just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B9860B"/>
                </a:solidFill>
                <a:latin typeface="Times New Roman"/>
                <a:ea typeface="Times New Roman"/>
                <a:cs typeface="Times New Roman"/>
              </a:rPr>
              <a:t>8.  </a:t>
            </a: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World Meteorological Organization</a:t>
            </a:r>
            <a:r>
              <a:rPr sz="98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 — Early-Warnings-for-All &amp; open public weather data (wmo.int)</a:t>
            </a:r>
          </a:p>
          <a:p>
            <a:pPr algn="just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B9860B"/>
                </a:solidFill>
                <a:latin typeface="Times New Roman"/>
                <a:ea typeface="Times New Roman"/>
                <a:cs typeface="Times New Roman"/>
              </a:rPr>
              <a:t>9.  </a:t>
            </a: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Scientific Reports (Nature Portfolio)</a:t>
            </a:r>
            <a:r>
              <a:rPr sz="98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 — hydrological lag-time &amp; runoff modelling in steep catchments</a:t>
            </a:r>
          </a:p>
          <a:p>
            <a:pPr algn="just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B9860B"/>
                </a:solidFill>
                <a:latin typeface="Times New Roman"/>
                <a:ea typeface="Times New Roman"/>
                <a:cs typeface="Times New Roman"/>
              </a:rPr>
              <a:t>10.  </a:t>
            </a: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Water Resources Management (Springer)</a:t>
            </a:r>
            <a:r>
              <a:rPr sz="98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 — rainfall-induced shallow-landslide thresholds via Factor of Safety</a:t>
            </a:r>
          </a:p>
          <a:p>
            <a:pPr algn="just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9860B"/>
                </a:solidFill>
                <a:latin typeface="Times New Roman"/>
                <a:ea typeface="Times New Roman"/>
                <a:cs typeface="Times New Roman"/>
              </a:rPr>
              <a:t>11.  </a:t>
            </a:r>
            <a:r>
              <a:rPr sz="100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IEEE disaster-communications literature</a:t>
            </a:r>
            <a:r>
              <a:rPr sz="980" b="0" i="0">
                <a:solidFill>
                  <a:srgbClr val="1A1D24"/>
                </a:solidFill>
                <a:latin typeface="Times New Roman"/>
                <a:ea typeface="Times New Roman"/>
                <a:cs typeface="Times New Roman"/>
              </a:rPr>
              <a:t> — delay-tolerant SMS warning architectures for zero-connectivity valleys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639312"/>
            <a:ext cx="8622792" cy="274320"/>
          </a:xfrm>
          <a:prstGeom prst="rect">
            <a:avLst/>
          </a:prstGeom>
          <a:solidFill>
            <a:srgbClr val="E8A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LIVE DATA SOURCES — OPEN FEEDS THE APP CONSUMES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913632"/>
            <a:ext cx="862279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_nas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49" y="4005072"/>
            <a:ext cx="588529" cy="548640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420624" y="4590288"/>
            <a:ext cx="1363979" cy="21945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NASA SMAP·GPM</a:t>
            </a:r>
          </a:p>
        </p:txBody>
      </p:sp>
      <p:pic>
        <p:nvPicPr>
          <p:cNvPr id="19" name="Picture 18" descr="logo_is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875" y="4005072"/>
            <a:ext cx="569741" cy="548640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857756" y="4590288"/>
            <a:ext cx="1363979" cy="21945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ISRO Bhuvan</a:t>
            </a:r>
          </a:p>
        </p:txBody>
      </p:sp>
      <p:pic>
        <p:nvPicPr>
          <p:cNvPr id="21" name="Picture 20" descr="logo_im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1464" y="4005072"/>
            <a:ext cx="310826" cy="548640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3294887" y="4590288"/>
            <a:ext cx="1363979" cy="21945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IMD Mausam</a:t>
            </a:r>
          </a:p>
        </p:txBody>
      </p:sp>
      <p:pic>
        <p:nvPicPr>
          <p:cNvPr id="23" name="Picture 22" descr="logo_gs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8033" y="4005072"/>
            <a:ext cx="511952" cy="548640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4732019" y="4590288"/>
            <a:ext cx="1363979" cy="21945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GSI Bhukosh</a:t>
            </a:r>
          </a:p>
        </p:txBody>
      </p:sp>
      <p:pic>
        <p:nvPicPr>
          <p:cNvPr id="25" name="Picture 24" descr="logo_cw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5674" y="4005072"/>
            <a:ext cx="550935" cy="548640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6169151" y="4590288"/>
            <a:ext cx="1363979" cy="21945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CWC FloodWatch</a:t>
            </a:r>
          </a:p>
        </p:txBody>
      </p:sp>
      <p:pic>
        <p:nvPicPr>
          <p:cNvPr id="27" name="Picture 26" descr="logo_wm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7912" y="4005072"/>
            <a:ext cx="500723" cy="548640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7606283" y="4590288"/>
            <a:ext cx="1363979" cy="21945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WMO PublicWX</a:t>
            </a:r>
          </a:p>
        </p:txBody>
      </p:sp>
      <p:pic>
        <p:nvPicPr>
          <p:cNvPr id="29" name="Picture 28" descr="paper_fi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6568" y="3639312"/>
            <a:ext cx="2071126" cy="1225296"/>
          </a:xfrm>
          <a:prstGeom prst="rect">
            <a:avLst/>
          </a:prstGeom>
          <a:ln w="12700">
            <a:solidFill>
              <a:srgbClr val="12264C"/>
            </a:solidFill>
          </a:ln>
          <a:effectLst/>
        </p:spPr>
      </p:pic>
      <p:sp>
        <p:nvSpPr>
          <p:cNvPr id="30" name="Rectangle 29"/>
          <p:cNvSpPr/>
          <p:nvPr/>
        </p:nvSpPr>
        <p:spPr>
          <a:xfrm>
            <a:off x="384048" y="4974336"/>
            <a:ext cx="11430000" cy="548640"/>
          </a:xfrm>
          <a:prstGeom prst="rect">
            <a:avLst/>
          </a:prstGeom>
          <a:solidFill>
            <a:srgbClr val="F8F4EA"/>
          </a:solidFill>
          <a:ln w="12700">
            <a:solidFill>
              <a:srgbClr val="122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4974336"/>
            <a:ext cx="8375904" cy="548640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1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Integrity note: </a:t>
            </a:r>
            <a:r>
              <a:rPr sz="950" b="0" i="1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every input is a public, government-grade source — no proprietary data, so evaluators can verify each feed.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Code: </a:t>
            </a:r>
            <a:r>
              <a:rPr sz="950" b="0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github.com/nandhish3004/Oramet</a:t>
            </a:r>
            <a:r>
              <a:rPr sz="950" b="1" i="0">
                <a:solidFill>
                  <a:srgbClr val="12264C"/>
                </a:solidFill>
                <a:latin typeface="Times New Roman"/>
                <a:ea typeface="Times New Roman"/>
                <a:cs typeface="Times New Roman"/>
              </a:rPr>
              <a:t>     Demo: </a:t>
            </a:r>
            <a:r>
              <a:rPr sz="950" b="0" i="0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YouTube (link on title page)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974336"/>
            <a:ext cx="2651760" cy="548640"/>
          </a:xfrm>
          <a:prstGeom prst="rect">
            <a:avLst/>
          </a:prstGeom>
          <a:noFill/>
        </p:spPr>
        <p:txBody>
          <a:bodyPr wrap="square" lIns="9144" rIns="9144" tIns="27432" bIns="27432" anchor="ctr">
            <a:no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1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Evidence: Himalayan study figure — monthly rainfall vs. % landslides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1">
                <a:solidFill>
                  <a:srgbClr val="4E5560"/>
                </a:solidFill>
                <a:latin typeface="Times New Roman"/>
                <a:ea typeface="Times New Roman"/>
                <a:cs typeface="Times New Roman"/>
              </a:rPr>
              <a:t>Source: ScienceDirect (2024), Himalayan EWS research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5577840"/>
            <a:ext cx="12192609" cy="786384"/>
          </a:xfrm>
          <a:prstGeom prst="rect">
            <a:avLst/>
          </a:prstGeom>
          <a:solidFill>
            <a:srgbClr val="122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577840"/>
            <a:ext cx="12192609" cy="27432"/>
          </a:xfrm>
          <a:prstGeom prst="rect">
            <a:avLst/>
          </a:prstGeom>
          <a:solidFill>
            <a:srgbClr val="E8A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zypher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650992"/>
            <a:ext cx="512064" cy="640080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1188720" y="5577840"/>
            <a:ext cx="5669280" cy="786384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HydroSentinel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E8A917"/>
                </a:solidFill>
                <a:latin typeface="Times New Roman"/>
                <a:ea typeface="Times New Roman"/>
                <a:cs typeface="Times New Roman"/>
              </a:rPr>
              <a:t>Predict.  Evacuate.  Survive.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577840"/>
            <a:ext cx="4754880" cy="786384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Team zypher2026  •  Team ID 126427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CE3F0"/>
                </a:solidFill>
                <a:latin typeface="Times New Roman"/>
                <a:ea typeface="Times New Roman"/>
                <a:cs typeface="Times New Roman"/>
              </a:rPr>
              <a:t>Smart India Hackathon 2026 — Disaster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